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Aspen is a hypothetical timberland acquisition I built end to end to show how I</a:t>
            </a:r>
          </a:p>
          <a:p>
            <a:r>
              <a:t>would underwrite a real one: a 20,000-hectare boreal mixedwood tract in north-central</a:t>
            </a:r>
          </a:p>
          <a:p>
            <a:r>
              <a:t>Alberta, offered at $92.0M, or</a:t>
            </a:r>
          </a:p>
          <a:p>
            <a:r>
              <a:t>$4,600 a hectare.</a:t>
            </a:r>
          </a:p>
          <a:p/>
          <a:p>
            <a:r>
              <a:t>Say clearly up front that the tract is invented. Everything about the property is an</a:t>
            </a:r>
          </a:p>
          <a:p>
            <a:r>
              <a:t>illustrative assumption documented in a single YAML file with a source field. The market</a:t>
            </a:r>
          </a:p>
          <a:p>
            <a:r>
              <a:t>data in the last section is real and cited.</a:t>
            </a:r>
          </a:p>
          <a:p/>
          <a:p>
            <a:r>
              <a:t>The question the deck answers is not just "is this a good asset" but "what is the most we</a:t>
            </a:r>
          </a:p>
          <a:p>
            <a:r>
              <a:t>should pay, and what could go wrong". Three deliverables sit behind it: a live-formula</a:t>
            </a:r>
          </a:p>
          <a:p>
            <a:r>
              <a:t>Excel model, a Monte Carlo risk engine, and a market study testing the diversification</a:t>
            </a:r>
          </a:p>
          <a:p>
            <a:r>
              <a:t>and inflation claims the asset class is usually sold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recommendation is conditional and the condition is the price.</a:t>
            </a:r>
          </a:p>
          <a:p/>
          <a:p>
            <a:r>
              <a:t>At the $92.0M ask the model returns 7.52% real and</a:t>
            </a:r>
          </a:p>
          <a:p>
            <a:r>
              <a:t>unlevered against a 6.0% hurdle, an NPV of $17.7M. That</a:t>
            </a:r>
          </a:p>
          <a:p>
            <a:r>
              <a:t>clears, so the answer is buy. But the number that matters is the breakeven,</a:t>
            </a:r>
          </a:p>
          <a:p>
            <a:r>
              <a:t>$109.5M or $5,477 a hectare. That is</a:t>
            </a:r>
          </a:p>
          <a:p>
            <a:r>
              <a:t>19% above the ask, and it is the ceiling I would take</a:t>
            </a:r>
          </a:p>
          <a:p>
            <a:r>
              <a:t>into a negotiation.</a:t>
            </a:r>
          </a:p>
          <a:p/>
          <a:p>
            <a:r>
              <a:t>On the first bullet: this is fundamentally a liquidation-of-surplus story. The tract holds</a:t>
            </a:r>
          </a:p>
          <a:p>
            <a:r>
              <a:t>179 m³ a hectare against a</a:t>
            </a:r>
          </a:p>
          <a:p>
            <a:r>
              <a:t>regulated level of about</a:t>
            </a:r>
          </a:p>
          <a:p>
            <a:r>
              <a:t>25. We harvest the excess</a:t>
            </a:r>
          </a:p>
          <a:p>
            <a:r>
              <a:t>down over thirty years and sell a normalised forest. If asked "where does the return come</a:t>
            </a:r>
          </a:p>
          <a:p>
            <a:r>
              <a:t>from", the answer is the mature timber, not the growth.</a:t>
            </a:r>
          </a:p>
          <a:p/>
          <a:p>
            <a:r>
              <a:t>Be honest about the weaknesses: the growth curve is illustrative, and</a:t>
            </a:r>
          </a:p>
          <a:p>
            <a:r>
              <a:t>10% of paths miss the hurdle. I would not present this</a:t>
            </a:r>
          </a:p>
          <a:p>
            <a:r>
              <a:t>as a high-conviction deal. It is a priced-about-right deal where execution and entry</a:t>
            </a:r>
          </a:p>
          <a:p>
            <a:r>
              <a:t>discipline decide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forestry content, and it is where the model earns its keep.</a:t>
            </a:r>
          </a:p>
          <a:p/>
          <a:p>
            <a:r>
              <a:t>Three rotation ages, all defensible, all different. Maximum mean annual increment says cut</a:t>
            </a:r>
          </a:p>
          <a:p>
            <a:r>
              <a:t>at 63 years: that maximises wood per year and ignores money entirely.</a:t>
            </a:r>
          </a:p>
          <a:p>
            <a:r>
              <a:t>Fisher's single-rotation NPV says 30 years: it discounts, so it cuts</a:t>
            </a:r>
          </a:p>
          <a:p>
            <a:r>
              <a:t>earlier. Faustmann says 30 years, and it is the shortest because it counts</a:t>
            </a:r>
          </a:p>
          <a:p>
            <a:r>
              <a:t>one thing the others miss: while you wait, the land itself is tied up, and so is every</a:t>
            </a:r>
          </a:p>
          <a:p>
            <a:r>
              <a:t>rotation that would have followed. That opportunity cost is the land expectation value,</a:t>
            </a:r>
          </a:p>
          <a:p>
            <a:r>
              <a:t>$123 a hectare here.</a:t>
            </a:r>
          </a:p>
          <a:p/>
          <a:p>
            <a:r>
              <a:t>A good follow-up question is why the curve falls so steeply after the peak. Past the</a:t>
            </a:r>
          </a:p>
          <a:p>
            <a:r>
              <a:t>optimum you are earning a biological growth rate below the discount rate on an</a:t>
            </a:r>
          </a:p>
          <a:p>
            <a:r>
              <a:t>increasingly valuable asset, so you are destroying value every year you wait.</a:t>
            </a:r>
          </a:p>
          <a:p/>
          <a:p>
            <a:r>
              <a:t>Another: a higher timber price actually *shortens* the Faustmann rotation, which surprises</a:t>
            </a:r>
          </a:p>
          <a:p>
            <a:r>
              <a:t>people. Richer land raises the opportunity cost of waiting faster than the extra volume</a:t>
            </a:r>
          </a:p>
          <a:p>
            <a:r>
              <a:t>repays it.</a:t>
            </a:r>
          </a:p>
          <a:p/>
          <a:p>
            <a:r>
              <a:t>Do not oversell this. A 30-year rotation is not what anyone operates in the Alberta boreal.</a:t>
            </a:r>
          </a:p>
          <a:p>
            <a:r>
              <a:t>That is a function of my illustrative parameters, and I say so on the slide rather than</a:t>
            </a:r>
          </a:p>
          <a:p>
            <a:r>
              <a:t>hoping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chart: the cash flow shape. One large outflow at close, thirty years of steady harvest</a:t>
            </a:r>
          </a:p>
          <a:p>
            <a:r>
              <a:t>income of roughly $8.1M a year, and</a:t>
            </a:r>
          </a:p>
          <a:p>
            <a:r>
              <a:t>an exit worth $40.1M. Operating costs are about 5% of revenue,</a:t>
            </a:r>
          </a:p>
          <a:p>
            <a:r>
              <a:t>which is why they barely show.</a:t>
            </a:r>
          </a:p>
          <a:p/>
          <a:p>
            <a:r>
              <a:t>The exit is not a hand-waved multiple. It is the bare land value in perpetuity,</a:t>
            </a:r>
          </a:p>
          <a:p>
            <a:r>
              <a:t>$4.8M, plus the standing timber we leave behind,</a:t>
            </a:r>
          </a:p>
          <a:p>
            <a:r>
              <a:t>$35.3M, priced stand by stand off the year-30 age</a:t>
            </a:r>
          </a:p>
          <a:p>
            <a:r>
              <a:t>distribution. In the workbook that whole calculation is live formulas.</a:t>
            </a:r>
          </a:p>
          <a:p/>
          <a:p>
            <a:r>
              <a:t>Right chart: the two-way grid. Read down for the entry price, across for the long-run real</a:t>
            </a:r>
          </a:p>
          <a:p>
            <a:r>
              <a:t>price growth assumption. The vertical spread dwarfs the horizontal one, which is the point</a:t>
            </a:r>
          </a:p>
          <a:p>
            <a:r>
              <a:t>- we control the price we pay and we do not control the commodity.</a:t>
            </a:r>
          </a:p>
          <a:p/>
          <a:p>
            <a:r>
              <a:t>The single most useful number here is the breakeven stumpage of $41 a cubic</a:t>
            </a:r>
          </a:p>
          <a:p>
            <a:r>
              <a:t>metre against $48 assumed. Prices would have</a:t>
            </a:r>
          </a:p>
          <a:p>
            <a:r>
              <a:t>to sit 15% below assumption, on average, for thirty years, before this deal fails.</a:t>
            </a:r>
          </a:p>
          <a:p>
            <a:r>
              <a:t>That is a real cushion, though not a large one by timberland standards.</a:t>
            </a:r>
          </a:p>
          <a:p/>
          <a:p>
            <a:r>
              <a:t>If challenged on the discount rate: it barely moves the IRR, because it touches only the</a:t>
            </a:r>
          </a:p>
          <a:p>
            <a:r>
              <a:t>rotation age and the exit price, not the operating cash flows. The grid in the workbook</a:t>
            </a:r>
          </a:p>
          <a:p>
            <a:r>
              <a:t>shows that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thousand paths. Stumpage follows a mean-reverting Ornstein-Uhlenbeck process on the log</a:t>
            </a:r>
          </a:p>
          <a:p>
            <a:r>
              <a:t>price: cyclical, not a random walk, because a sawlog price that doubles does not stay</a:t>
            </a:r>
          </a:p>
          <a:p>
            <a:r>
              <a:t>doubled. Each year carries a 2% chance</a:t>
            </a:r>
          </a:p>
          <a:p>
            <a:r>
              <a:t>of a fire or pest event destroying a random share of the tract.</a:t>
            </a:r>
          </a:p>
          <a:p/>
          <a:p>
            <a:r>
              <a:t>The honest headline is 10% of paths below the hurdle.</a:t>
            </a:r>
          </a:p>
          <a:p>
            <a:r>
              <a:t>Median 7.7%, 5th percentile 5.6%. This is not a</a:t>
            </a:r>
          </a:p>
          <a:p>
            <a:r>
              <a:t>safe deal; it is an adequately priced one.</a:t>
            </a:r>
          </a:p>
          <a:p/>
          <a:p>
            <a:r>
              <a:t>The flexibility number is the part I would most want to talk about. Two strategies run on</a:t>
            </a:r>
          </a:p>
          <a:p>
            <a:r>
              <a:t>identical price and fire paths. One cuts the target every year regardless of price. The</a:t>
            </a:r>
          </a:p>
          <a:p>
            <a:r>
              <a:t>other cuts at the bottom of the permitted band when prices are below their long-run mean</a:t>
            </a:r>
          </a:p>
          <a:p>
            <a:r>
              <a:t>and at the top when above. The difference, $3.5M or</a:t>
            </a:r>
          </a:p>
          <a:p>
            <a:r>
              <a:t>$176 a hectare, is a real option on harvest timing, and it</a:t>
            </a:r>
          </a:p>
          <a:p>
            <a:r>
              <a:t>exists only because prices revert. I verified that with a control run: set volatility near</a:t>
            </a:r>
          </a:p>
          <a:p>
            <a:r>
              <a:t>zero and the option value collapses.</a:t>
            </a:r>
          </a:p>
          <a:p/>
          <a:p>
            <a:r>
              <a:t>One caveat worth volunteering: the flexible strategy raises mean value but also widens the</a:t>
            </a:r>
          </a:p>
          <a:p>
            <a:r>
              <a:t>distribution, so its probability of missing the hurdle is slightly higher, at</a:t>
            </a:r>
          </a:p>
          <a:p>
            <a:r>
              <a:t>12%. More value, more variance.</a:t>
            </a:r>
          </a:p>
          <a:p/>
          <a:p>
            <a:r>
              <a:t>On regulatory and Indigenous consultation, I have not quantified it and I would not</a:t>
            </a:r>
          </a:p>
          <a:p>
            <a:r>
              <a:t>pretend otherwise. On a real Alberta transaction that is front-and-centre due diligence,</a:t>
            </a:r>
          </a:p>
          <a:p>
            <a:r>
              <a:t>not a footnote, and it would need legal and community work before a bid.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where I report a result that does not help the pitch.</a:t>
            </a:r>
          </a:p>
          <a:p/>
          <a:p>
            <a:r>
              <a:t>The standard case for timberland is low correlation and inflation protection. Tested</a:t>
            </a:r>
          </a:p>
          <a:p>
            <a:r>
              <a:t>against real data, using Yahoo Finance monthly returns and Statistics Canada CPI, neither</a:t>
            </a:r>
          </a:p>
          <a:p>
            <a:r>
              <a:t>claim comes through cleanly. Timber proxies correlate</a:t>
            </a:r>
          </a:p>
          <a:p>
            <a:r>
              <a:t>0.47 with the TSX, which is moderate, not low. And no</a:t>
            </a:r>
          </a:p>
          <a:p>
            <a:r>
              <a:t>proxy shows a statistically significant inflation beta.</a:t>
            </a:r>
          </a:p>
          <a:p/>
          <a:p>
            <a:r>
              <a:t>I want to be precise about why that is not the same as "the thesis is wrong". The proxies</a:t>
            </a:r>
          </a:p>
          <a:p>
            <a:r>
              <a:t>are listed REITs, and they are equities before they are trees. They trade with the market</a:t>
            </a:r>
          </a:p>
          <a:p>
            <a:r>
              <a:t>because they are traded. A directly held tract has no daily price and no equity beta, so</a:t>
            </a:r>
          </a:p>
          <a:p>
            <a:r>
              <a:t>its true correlation is almost certainly lower than what I measured. The opposite bias</a:t>
            </a:r>
          </a:p>
          <a:p>
            <a:r>
              <a:t>exists too: private appraisal-based indices update slowly and understate correlation.</a:t>
            </a:r>
          </a:p>
          <a:p>
            <a:r>
              <a:t>Honest answer is that the truth is between them and I cannot observe it.</a:t>
            </a:r>
          </a:p>
          <a:p/>
          <a:p>
            <a:r>
              <a:t>What I would do with more time and data: get NCREIF Timberland Index history and run the</a:t>
            </a:r>
          </a:p>
          <a:p>
            <a:r>
              <a:t>same analysis on a de-smoothed series, which is the standard correction.</a:t>
            </a:r>
          </a:p>
          <a:p/>
          <a:p>
            <a:r>
              <a:t>The farmland result is interesting: both proxies did much better in high-inflation years,</a:t>
            </a:r>
          </a:p>
          <a:p>
            <a:r>
              <a:t>but it rests on twelve and thirteen annual observations, so I would present it as a</a:t>
            </a:r>
          </a:p>
          <a:p>
            <a:r>
              <a:t>hypothesis worth testing, not a finding.</a:t>
            </a:r>
          </a:p>
          <a:p/>
          <a:p>
            <a:r>
              <a:t>CPI source is Statistics Canada table 18-10-0004-01, Consumer Price Index, all-items, Canada, monthly (vector v41690973).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6CBB4"/>
                </a:solidFill>
                <a:latin typeface="Calibri"/>
              </a:rPr>
              <a:t>INVESTMENT COMMITTEE  ·  PRELIMINARY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Project Aspen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80360"/>
            <a:ext cx="8778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E8E0D2"/>
                </a:solidFill>
                <a:latin typeface="Calibri"/>
              </a:rPr>
              <a:t>Should we acquire a 20,000-hectare boreal timberland tract in north-central Alberta, and at what price?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60520"/>
            <a:ext cx="1280160" cy="30480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3484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D6CBB4"/>
                </a:solidFill>
                <a:latin typeface="Calibri"/>
              </a:rPr>
              <a:t>HYPOTHETICAL TRANSACTION: the tract does not exist. Built to demonstrate method, not to recommend an investment.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4068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Harsit Baral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200" b="0" i="0">
                <a:solidFill>
                  <a:srgbClr val="D6CBB4"/>
                </a:solidFill>
                <a:latin typeface="Calibri"/>
              </a:rPr>
              <a:t>Renewable Resources, timberland and farmland  |  all figures in real CAD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32918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RECOMMENDATION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566928" y="603504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B4332"/>
                </a:solidFill>
                <a:latin typeface="Calibri"/>
              </a:rPr>
              <a:t>Buy, but only below $109.5M: at the $92.0M ask the tract returns 7.5% against a 6% hurdle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57839" cy="27940"/>
          </a:xfrm>
          <a:prstGeom prst="rect">
            <a:avLst/>
          </a:prstGeom>
          <a:solidFill>
            <a:srgbClr val="D6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Project Aspen  ·  hypothetical tract, prepared for portfolio purposes only  · 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5566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2634157" cy="148132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23049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CBB4"/>
                </a:solidFill>
                <a:latin typeface="Calibri"/>
              </a:rPr>
              <a:t>PROJECT IRR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2304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30497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E8E0D2"/>
                </a:solidFill>
                <a:latin typeface="Calibri"/>
              </a:rPr>
              <a:t>+152 bps above the 6% hurdle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821" y="1783080"/>
            <a:ext cx="2634157" cy="1481328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9413" y="1911096"/>
            <a:ext cx="23049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574F"/>
                </a:solidFill>
                <a:latin typeface="Calibri"/>
              </a:rPr>
              <a:t>NET PRESENT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9413" y="2167128"/>
            <a:ext cx="2304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B4332"/>
                </a:solidFill>
                <a:latin typeface="Calibri"/>
              </a:rPr>
              <a:t>$17.7M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9413" y="2788920"/>
            <a:ext cx="230497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5C574F"/>
                </a:solidFill>
                <a:latin typeface="Calibri"/>
              </a:rPr>
              <a:t>discounted at 6.0% real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2714" y="1783080"/>
            <a:ext cx="2634157" cy="1481328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6" y="1911096"/>
            <a:ext cx="23049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574F"/>
                </a:solidFill>
                <a:latin typeface="Calibri"/>
              </a:rPr>
              <a:t>BREAKEVEN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6" y="2167128"/>
            <a:ext cx="2304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B4332"/>
                </a:solidFill>
                <a:latin typeface="Calibri"/>
              </a:rPr>
              <a:t>$109.5M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6" y="2788920"/>
            <a:ext cx="230497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5C574F"/>
                </a:solidFill>
                <a:latin typeface="Calibri"/>
              </a:rPr>
              <a:t>+19% vs the ask ($5,477/ha)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0607" y="1783080"/>
            <a:ext cx="2634157" cy="1481328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199" y="1911096"/>
            <a:ext cx="23049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574F"/>
                </a:solidFill>
                <a:latin typeface="Calibri"/>
              </a:rPr>
              <a:t>MONEY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199" y="2167128"/>
            <a:ext cx="2304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B4332"/>
                </a:solidFill>
                <a:latin typeface="Calibri"/>
              </a:rPr>
              <a:t>2.91x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5199" y="2788920"/>
            <a:ext cx="230497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5C574F"/>
                </a:solidFill>
                <a:latin typeface="Calibri"/>
              </a:rPr>
              <a:t>undiscounted, over 30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52958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6858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1663B"/>
                </a:solidFill>
                <a:latin typeface="Calibri"/>
              </a:rPr>
              <a:t>▪  </a:t>
            </a:r>
            <a:r>
              <a:rPr sz="1300" b="1">
                <a:solidFill>
                  <a:srgbClr val="1B4332"/>
                </a:solidFill>
                <a:latin typeface="Calibri"/>
              </a:rPr>
              <a:t>We are buying standing inventory, not growth.  </a:t>
            </a:r>
            <a:r>
              <a:rPr sz="1300">
                <a:solidFill>
                  <a:srgbClr val="22201D"/>
                </a:solidFill>
                <a:latin typeface="Calibri"/>
              </a:rPr>
              <a:t>The tract carries 3.58 million m³ today, 179 m³ a hectare, against 0.50 million for a fully regulated forest. That mature surplus is the return; the biology adds little over 30 years.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1663B"/>
                </a:solidFill>
                <a:latin typeface="Calibri"/>
              </a:rPr>
              <a:t>▪  </a:t>
            </a:r>
            <a:r>
              <a:rPr sz="1300" b="1">
                <a:solidFill>
                  <a:srgbClr val="1B4332"/>
                </a:solidFill>
                <a:latin typeface="Calibri"/>
              </a:rPr>
              <a:t>The price, not the forecast, decides the outcome.  </a:t>
            </a:r>
            <a:r>
              <a:rPr sz="1300">
                <a:solidFill>
                  <a:srgbClr val="22201D"/>
                </a:solidFill>
                <a:latin typeface="Calibri"/>
              </a:rPr>
              <a:t>Moving the offer ±30% swings the IRR by roughly six points; moving long-run real price growth across a full point moves it by two. Discipline on entry is the whole game, which is why the recommendation is a price, not a yes.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1663B"/>
                </a:solidFill>
                <a:latin typeface="Calibri"/>
              </a:rPr>
              <a:t>▪  </a:t>
            </a:r>
            <a:r>
              <a:rPr sz="1300" b="1">
                <a:solidFill>
                  <a:srgbClr val="1B4332"/>
                </a:solidFill>
                <a:latin typeface="Calibri"/>
              </a:rPr>
              <a:t>The margin is real but thin.  </a:t>
            </a:r>
            <a:r>
              <a:rPr sz="1300">
                <a:solidFill>
                  <a:srgbClr val="22201D"/>
                </a:solidFill>
                <a:latin typeface="Calibri"/>
              </a:rPr>
              <a:t>Stumpage can fall about 15% before the deal breaks, and 10% of simulated paths miss the hurdle. This clears, but it is not a bargain.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0688" y="3529584"/>
            <a:ext cx="3834079" cy="2514600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3694176"/>
            <a:ext cx="3431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CONDITIONS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4032504"/>
            <a:ext cx="3431743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200" b="0" i="0">
                <a:solidFill>
                  <a:srgbClr val="22201D"/>
                </a:solidFill>
                <a:latin typeface="Calibri"/>
              </a:rPr>
              <a:t>1.  Cap the bid at $109.5M. Above that the deal destroys value at our cost of capital.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200" b="0" i="0">
                <a:solidFill>
                  <a:srgbClr val="22201D"/>
                </a:solidFill>
                <a:latin typeface="Calibri"/>
              </a:rPr>
              <a:t>2.  Verify the inventory with an independent timber cruise before confirming price. The whole case rests on the volume that is standing there today.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2201D"/>
                </a:solidFill>
                <a:latin typeface="Calibri"/>
              </a:rPr>
              <a:t>3.  Negotiate harvest-timing latitude into any mill supply agreement. That flexibility alone is worth $3.5M.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32918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BIOLOGICAL GROWTH AND OPTIMAL ROTATION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566928" y="603504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B4332"/>
                </a:solidFill>
                <a:latin typeface="Calibri"/>
              </a:rPr>
              <a:t>Discounting cuts the optimal rotation from 63 years to 30, and that decision sets every cash flow that follows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57839" cy="27940"/>
          </a:xfrm>
          <a:prstGeom prst="rect">
            <a:avLst/>
          </a:prstGeom>
          <a:solidFill>
            <a:srgbClr val="D6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Project Aspen  ·  hypothetical tract, prepared for portfolio purposes only  · 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5566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lev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31" y="1737360"/>
            <a:ext cx="6943833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02168" y="1783080"/>
            <a:ext cx="3422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THREE ANSWERS, ONE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2103120"/>
            <a:ext cx="3422599" cy="1170432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212848"/>
            <a:ext cx="3093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4332"/>
                </a:solidFill>
                <a:latin typeface="Calibri"/>
              </a:rPr>
              <a:t>Maximum MAI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68880"/>
            <a:ext cx="30934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201D"/>
                </a:solidFill>
                <a:latin typeface="Calibri"/>
              </a:rPr>
              <a:t>63.5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98064"/>
            <a:ext cx="3093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5C574F"/>
                </a:solidFill>
                <a:latin typeface="Calibri"/>
              </a:rPr>
              <a:t>Peak 3.40 m³/ha/yr. Maximises wood, ignores money.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2168" y="3392424"/>
            <a:ext cx="3422599" cy="1170432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02152"/>
            <a:ext cx="3093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4332"/>
                </a:solidFill>
                <a:latin typeface="Calibri"/>
              </a:rPr>
              <a:t>Single rotation (Fisher)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58184"/>
            <a:ext cx="30934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201D"/>
                </a:solidFill>
                <a:latin typeface="Calibri"/>
              </a:rPr>
              <a:t>30.4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087368"/>
            <a:ext cx="3093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5C574F"/>
                </a:solidFill>
                <a:latin typeface="Calibri"/>
              </a:rPr>
              <a:t>Counts interest on the standing timber, but not on the land under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4681728"/>
            <a:ext cx="3422599" cy="11704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791456"/>
            <a:ext cx="3093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Faustmann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047488"/>
            <a:ext cx="30934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29.7 yrs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376672"/>
            <a:ext cx="3093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E8E0D2"/>
                </a:solidFill>
                <a:latin typeface="Calibri"/>
              </a:rPr>
              <a:t>LEV $123/ha. Also counts the delay to every future rotation, so it is the shortest. Rounded to 30 years for scheduling.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807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1">
                <a:solidFill>
                  <a:srgbClr val="C1663B"/>
                </a:solidFill>
                <a:latin typeface="Calibri"/>
              </a:rPr>
              <a:t>Caveat: a 30-year rotation is far shorter than the 70-100 years Alberta boreal stands are actually managed on. That gap is driven by the illustrative growth curve and the 6% real discount rate, and it is the first assumption I would replace with published growth-and-yield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32918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VALUATION AND SENSITIVITY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566928" y="603504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B4332"/>
                </a:solidFill>
                <a:latin typeface="Calibri"/>
              </a:rPr>
              <a:t>The return absorbs a 15% fall in stumpage, but not a 19% rise in the price we pay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57839" cy="27940"/>
          </a:xfrm>
          <a:prstGeom prst="rect">
            <a:avLst/>
          </a:prstGeom>
          <a:solidFill>
            <a:srgbClr val="D6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Project Aspen  ·  hypothetical tract, prepared for portfolio purposes only  · 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5566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cash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6190"/>
            <a:ext cx="5806440" cy="3237020"/>
          </a:xfrm>
          <a:prstGeom prst="rect">
            <a:avLst/>
          </a:prstGeom>
        </p:spPr>
      </p:pic>
      <p:pic>
        <p:nvPicPr>
          <p:cNvPr id="8" name="Picture 7" descr="sensitivity_pric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905" y="1691640"/>
            <a:ext cx="4848806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029200"/>
            <a:ext cx="2634157" cy="1078992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38928"/>
            <a:ext cx="234154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C574F"/>
                </a:solidFill>
                <a:latin typeface="Calibri"/>
              </a:rPr>
              <a:t>SUSTAINABLE 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376672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4332"/>
                </a:solidFill>
                <a:latin typeface="Calibri"/>
              </a:rPr>
              <a:t>156k m³/yr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724144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held within ±15% every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4821" y="5029200"/>
            <a:ext cx="2634157" cy="1078992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1125" y="5138928"/>
            <a:ext cx="234154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C574F"/>
                </a:solidFill>
                <a:latin typeface="Calibri"/>
              </a:rPr>
              <a:t>EXIT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1125" y="5376672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4332"/>
                </a:solidFill>
                <a:latin typeface="Calibri"/>
              </a:rPr>
              <a:t>$40.1M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1125" y="5724144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$4.8M land + $35.3M standing timber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2714" y="5029200"/>
            <a:ext cx="2634157" cy="1078992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9018" y="5138928"/>
            <a:ext cx="234154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C574F"/>
                </a:solidFill>
                <a:latin typeface="Calibri"/>
              </a:rPr>
              <a:t>BREAKEVEN STUMPAGE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9018" y="5376672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4332"/>
                </a:solidFill>
                <a:latin typeface="Calibri"/>
              </a:rPr>
              <a:t>$41/m³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9018" y="5724144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vs $48 assumed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0607" y="5029200"/>
            <a:ext cx="2634157" cy="1078992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6911" y="5138928"/>
            <a:ext cx="234154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C574F"/>
                </a:solidFill>
                <a:latin typeface="Calibri"/>
              </a:rPr>
              <a:t>BREAKEVEN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6911" y="5376672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4332"/>
                </a:solidFill>
                <a:latin typeface="Calibri"/>
              </a:rPr>
              <a:t>$5,477/ha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911" y="5724144"/>
            <a:ext cx="234154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vs $4,600/ha asked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32918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RISK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566928" y="603504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B4332"/>
                </a:solidFill>
                <a:latin typeface="Calibri"/>
              </a:rPr>
              <a:t>10% of 10,000 simulated paths miss the hurdle; harvest timing flexibility is worth $3.5M against that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57839" cy="27940"/>
          </a:xfrm>
          <a:prstGeom prst="rect">
            <a:avLst/>
          </a:prstGeom>
          <a:solidFill>
            <a:srgbClr val="D6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Project Aspen  ·  hypothetical tract, prepared for portfolio purposes only  · 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5566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irr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84" y="1664208"/>
            <a:ext cx="5518887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956048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WHERE THE RISK 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30368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22201D"/>
                </a:solidFill>
                <a:latin typeface="Calibri"/>
              </a:rPr>
              <a:t>IRR spans 5.6% at the 5th percentile to 10.6% at the 95th, median 7.7%. Fire and pests cost $1.1M of expected value - real, but second order next to price.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</a:pPr>
            <a:r>
              <a:rPr sz="1150" b="0" i="0">
                <a:solidFill>
                  <a:srgbClr val="5C574F"/>
                </a:solidFill>
                <a:latin typeface="Calibri"/>
              </a:rPr>
              <a:t>Flexibility has value only because prices mean revert: a weak price today signals a stronger one later, so shifting volume inside the ±15% band pays. Under a random walk it would be worth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1700784"/>
            <a:ext cx="4839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KEY RISKS AND MITIGANTS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4848" y="2011680"/>
            <a:ext cx="38100" cy="786384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2864" y="2011680"/>
            <a:ext cx="47119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4332"/>
                </a:solidFill>
                <a:latin typeface="Calibri"/>
              </a:rPr>
              <a:t>Wildfire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2231136"/>
            <a:ext cx="47119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</a:pPr>
            <a:r>
              <a:rPr sz="950" b="0" i="0">
                <a:solidFill>
                  <a:srgbClr val="22201D"/>
                </a:solidFill>
                <a:latin typeface="Calibri"/>
              </a:rPr>
              <a:t>Costs $1.1M of expected NPV. Spread harvest across the tract, insure where priced sensibly, budget salvage capacity.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2852928"/>
            <a:ext cx="38100" cy="786384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2852928"/>
            <a:ext cx="47119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4332"/>
                </a:solidFill>
                <a:latin typeface="Calibri"/>
              </a:rPr>
              <a:t>Mountain pine beetle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3072384"/>
            <a:ext cx="47119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</a:pPr>
            <a:r>
              <a:rPr sz="950" b="0" i="0">
                <a:solidFill>
                  <a:srgbClr val="22201D"/>
                </a:solidFill>
                <a:latin typeface="Calibri"/>
              </a:rPr>
              <a:t>Modelled inside the same disturbance term. Mixedwood composition limits pure-pine exposure; monitor and accelerate harvest in infested stands.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4848" y="3694176"/>
            <a:ext cx="38100" cy="786384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2864" y="3694176"/>
            <a:ext cx="47119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4332"/>
                </a:solidFill>
                <a:latin typeface="Calibri"/>
              </a:rPr>
              <a:t>Lumber and stumpage prices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3913632"/>
            <a:ext cx="47119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</a:pPr>
            <a:r>
              <a:rPr sz="950" b="0" i="0">
                <a:solidFill>
                  <a:srgbClr val="22201D"/>
                </a:solidFill>
                <a:latin typeface="Calibri"/>
              </a:rPr>
              <a:t>The dominant driver. Prices can sit 15% below assumption for the whole hold before the deal breaks; keep the harvest band wide and stay unlevered.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4848" y="4535424"/>
            <a:ext cx="38100" cy="786384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4535424"/>
            <a:ext cx="47119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4332"/>
                </a:solidFill>
                <a:latin typeface="Calibri"/>
              </a:rPr>
              <a:t>Regulatory and Indigenous consultation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754880"/>
            <a:ext cx="47119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</a:pPr>
            <a:r>
              <a:rPr sz="950" b="0" i="0">
                <a:solidFill>
                  <a:srgbClr val="22201D"/>
                </a:solidFill>
                <a:latin typeface="Calibri"/>
              </a:rPr>
              <a:t>Not quantified here, and that is a genuine gap. Requires early engagement, consent-based planning and schedule contingency before any bid.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5376672"/>
            <a:ext cx="38100" cy="786384"/>
          </a:xfrm>
          <a:prstGeom prst="rect">
            <a:avLst/>
          </a:prstGeom>
          <a:solidFill>
            <a:srgbClr val="C1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864" y="5376672"/>
            <a:ext cx="47119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4332"/>
                </a:solidFill>
                <a:latin typeface="Calibri"/>
              </a:rPr>
              <a:t>Liquidity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2864" y="5596128"/>
            <a:ext cx="47119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</a:pPr>
            <a:r>
              <a:rPr sz="950" b="0" i="0">
                <a:solidFill>
                  <a:srgbClr val="22201D"/>
                </a:solidFill>
                <a:latin typeface="Calibri"/>
              </a:rPr>
              <a:t>Thirty-year hold with no interim market. Only appropriate for a long-dated liability pool; size the position accordingly.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32918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PORTFOLIO FIT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566928" y="603504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B4332"/>
                </a:solidFill>
                <a:latin typeface="Calibri"/>
              </a:rPr>
              <a:t>The diversification case is weaker than the pitch: listed proxies correlate 0.47 with the S&amp;P/TSX Composite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57839" cy="27940"/>
          </a:xfrm>
          <a:prstGeom prst="rect">
            <a:avLst/>
          </a:prstGeom>
          <a:solidFill>
            <a:srgbClr val="D6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Project Aspen  ·  hypothetical tract, prepared for portfolio purposes only  · 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5566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4F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rolling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89" y="1664208"/>
            <a:ext cx="6396838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07808" y="1700784"/>
            <a:ext cx="4016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663B"/>
                </a:solidFill>
                <a:latin typeface="Calibri"/>
              </a:rPr>
              <a:t>WHAT THE DATA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011680"/>
            <a:ext cx="401695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C1663B"/>
                </a:solidFill>
                <a:latin typeface="Calibri"/>
              </a:rPr>
              <a:t>▪  </a:t>
            </a:r>
            <a:r>
              <a:rPr sz="1100" b="1">
                <a:solidFill>
                  <a:srgbClr val="1B4332"/>
                </a:solidFill>
                <a:latin typeface="Calibri"/>
              </a:rPr>
              <a:t>Correlation is moderate, not low.  </a:t>
            </a:r>
            <a:r>
              <a:rPr sz="1100">
                <a:solidFill>
                  <a:srgbClr val="22201D"/>
                </a:solidFill>
                <a:latin typeface="Calibri"/>
              </a:rPr>
              <a:t>Timber proxies average 0.47 against the S&amp;P/TSX Composite over 500 months, and the 36-month rolling figure has ranged from -0.14 to 0.87.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C1663B"/>
                </a:solidFill>
                <a:latin typeface="Calibri"/>
              </a:rPr>
              <a:t>▪  </a:t>
            </a:r>
            <a:r>
              <a:rPr sz="1100" b="1">
                <a:solidFill>
                  <a:srgbClr val="1B4332"/>
                </a:solidFill>
                <a:latin typeface="Calibri"/>
              </a:rPr>
              <a:t>Inflation hedging is unproven here.  </a:t>
            </a:r>
            <a:r>
              <a:rPr sz="1100">
                <a:solidFill>
                  <a:srgbClr val="22201D"/>
                </a:solidFill>
                <a:latin typeface="Calibri"/>
              </a:rPr>
              <a:t>Regressing annual returns on annual CPI gives no statistically significant positive beta for any of the 8 series tested. With 12 to 41 annual observations the standard errors swamp the slopes.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C1663B"/>
                </a:solidFill>
                <a:latin typeface="Calibri"/>
              </a:rPr>
              <a:t>▪  </a:t>
            </a:r>
            <a:r>
              <a:rPr sz="1100" b="1">
                <a:solidFill>
                  <a:srgbClr val="1B4332"/>
                </a:solidFill>
                <a:latin typeface="Calibri"/>
              </a:rPr>
              <a:t>Farmland looks better than timber.  </a:t>
            </a:r>
            <a:r>
              <a:rPr sz="1100">
                <a:solidFill>
                  <a:srgbClr val="22201D"/>
                </a:solidFill>
                <a:latin typeface="Calibri"/>
              </a:rPr>
              <a:t>Both farmland proxies earned materially more in above-median inflation years, but on barely a decade of data that is suggestive, not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440680"/>
            <a:ext cx="11057839" cy="841248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50408"/>
            <a:ext cx="10692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1663B"/>
                </a:solidFill>
                <a:latin typeface="Calibri"/>
              </a:rPr>
              <a:t>THE CAVEAT THAT QUALIFIES ALL OF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788152"/>
            <a:ext cx="10692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2201D"/>
                </a:solidFill>
                <a:latin typeface="Calibri"/>
              </a:rPr>
              <a:t>Listed timber and farmland REITs are equities first. They carry market beta, leverage and daily sentiment that a directly held tract does not, so these correlations are an upper bound and understate the diversification private timberland would deliver. Appraisal-based private indices have the opposite bias: smoothing suppresses measured correlation. The truth sits between them, and neither is available for one Alberta 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